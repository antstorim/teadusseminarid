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15"/>
  </p:notesMasterIdLst>
  <p:handoutMasterIdLst>
    <p:handoutMasterId r:id="rId16"/>
  </p:handoutMasterIdLst>
  <p:sldIdLst>
    <p:sldId id="318" r:id="rId2"/>
    <p:sldId id="340" r:id="rId3"/>
    <p:sldId id="316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41" r:id="rId12"/>
    <p:sldId id="342" r:id="rId13"/>
    <p:sldId id="276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36AF8D-5BEB-E041-9101-0495C1E2400F}">
          <p14:sldIdLst>
            <p14:sldId id="318"/>
            <p14:sldId id="340"/>
            <p14:sldId id="316"/>
            <p14:sldId id="332"/>
            <p14:sldId id="333"/>
            <p14:sldId id="334"/>
            <p14:sldId id="335"/>
            <p14:sldId id="336"/>
            <p14:sldId id="337"/>
            <p14:sldId id="338"/>
            <p14:sldId id="341"/>
            <p14:sldId id="342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B60"/>
    <a:srgbClr val="4FBFD3"/>
    <a:srgbClr val="E4067E"/>
    <a:srgbClr val="4F4C4E"/>
    <a:srgbClr val="808285"/>
    <a:srgbClr val="96004F"/>
    <a:srgbClr val="4D4D4F"/>
    <a:srgbClr val="C9C9C9"/>
    <a:srgbClr val="D385A9"/>
    <a:srgbClr val="C2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Kujunduslaad 1 – rõhk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Kujunduslaad 1 – rõhk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8" autoAdjust="0"/>
    <p:restoredTop sz="96687"/>
  </p:normalViewPr>
  <p:slideViewPr>
    <p:cSldViewPr snapToGrid="0" snapToObjects="1" showGuides="1">
      <p:cViewPr varScale="1">
        <p:scale>
          <a:sx n="84" d="100"/>
          <a:sy n="84" d="100"/>
        </p:scale>
        <p:origin x="5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944"/>
    </p:cViewPr>
  </p:sorterViewPr>
  <p:notesViewPr>
    <p:cSldViewPr snapToGrid="0" snapToObjects="1">
      <p:cViewPr varScale="1">
        <p:scale>
          <a:sx n="108" d="100"/>
          <a:sy n="108" d="100"/>
        </p:scale>
        <p:origin x="31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7233B-0833-EF40-A4A4-4DDA2CCDF12B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668B-42F9-8648-A8AF-436CB12C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pPr>
                <a:defRPr/>
              </a:pPr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‹#›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03485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 dirty="0"/>
              <a:t>Presentatsiooni Pealkiri</a:t>
            </a:r>
            <a:endParaRPr lang="et-EE" sz="3600" dirty="0">
              <a:solidFill>
                <a:schemeClr val="accent1"/>
              </a:solidFill>
            </a:endParaRP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 dirty="0"/>
              <a:t>Nimi </a:t>
            </a:r>
            <a:r>
              <a:rPr lang="et-EE" sz="1800" dirty="0" err="1"/>
              <a:t>Nimeste</a:t>
            </a:r>
            <a:br>
              <a:rPr lang="et-EE" sz="1800" dirty="0"/>
            </a:br>
            <a:r>
              <a:rPr lang="et-EE" sz="1800" dirty="0"/>
              <a:t>Teaduskond / instituut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 err="1"/>
              <a:t>Tallinna</a:t>
            </a:r>
            <a:r>
              <a:rPr lang="en-US" sz="1800" dirty="0"/>
              <a:t> </a:t>
            </a:r>
            <a:r>
              <a:rPr lang="en-US" sz="1800" dirty="0" err="1"/>
              <a:t>Tehnikaülikool</a:t>
            </a:r>
            <a:endParaRPr lang="et-EE" sz="180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8656883" y="6257244"/>
            <a:ext cx="26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t-EE" dirty="0" err="1">
                <a:solidFill>
                  <a:srgbClr val="332B60"/>
                </a:solidFill>
                <a:latin typeface="+mn-lt"/>
              </a:rPr>
              <a:t>pp.kk.aaaa</a:t>
            </a:r>
            <a:endParaRPr lang="et-EE" dirty="0">
              <a:solidFill>
                <a:srgbClr val="332B60"/>
              </a:solidFill>
              <a:latin typeface="+mn-lt"/>
            </a:endParaRP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 dirty="0">
                <a:solidFill>
                  <a:schemeClr val="accent1"/>
                </a:solidFill>
              </a:rPr>
              <a:t>vajadusel kahel real</a:t>
            </a:r>
          </a:p>
        </p:txBody>
      </p:sp>
    </p:spTree>
    <p:extLst>
      <p:ext uri="{BB962C8B-B14F-4D97-AF65-F5344CB8AC3E}">
        <p14:creationId xmlns:p14="http://schemas.microsoft.com/office/powerpoint/2010/main" val="358037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lang="en-US" altLang="en-US" sz="1800" smtClean="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</a:pP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lacus.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dirty="0" err="1">
                <a:solidFill>
                  <a:srgbClr val="332B60"/>
                </a:solidFill>
              </a:rPr>
              <a:t>Ut</a:t>
            </a:r>
            <a:r>
              <a:rPr lang="en-US" altLang="en-US" sz="1800" dirty="0">
                <a:solidFill>
                  <a:srgbClr val="332B60"/>
                </a:solidFill>
              </a:rPr>
              <a:t> vitae </a:t>
            </a:r>
            <a:r>
              <a:rPr lang="en-US" altLang="en-US" sz="1800" dirty="0" err="1">
                <a:solidFill>
                  <a:srgbClr val="332B60"/>
                </a:solidFill>
              </a:rPr>
              <a:t>nunc</a:t>
            </a:r>
            <a:r>
              <a:rPr lang="en-US" altLang="en-US" sz="1800" dirty="0">
                <a:solidFill>
                  <a:srgbClr val="332B60"/>
                </a:solidFill>
              </a:rPr>
              <a:t> non </a:t>
            </a:r>
            <a:r>
              <a:rPr lang="en-US" altLang="en-US" sz="1800" dirty="0" err="1">
                <a:solidFill>
                  <a:srgbClr val="332B60"/>
                </a:solidFill>
              </a:rPr>
              <a:t>pede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tristique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sagittis</a:t>
            </a:r>
            <a:r>
              <a:rPr lang="en-US" altLang="en-US" sz="1800" dirty="0">
                <a:solidFill>
                  <a:srgbClr val="332B60"/>
                </a:solidFill>
              </a:rPr>
              <a:t>. </a:t>
            </a:r>
            <a:r>
              <a:rPr lang="en-US" altLang="en-US" sz="1800" dirty="0" err="1">
                <a:solidFill>
                  <a:srgbClr val="332B60"/>
                </a:solidFill>
              </a:rPr>
              <a:t>Aliquam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imperdiet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elit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vel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justo</a:t>
            </a:r>
            <a:r>
              <a:rPr lang="en-US" altLang="en-US" sz="1800" dirty="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dirty="0" err="1">
                <a:solidFill>
                  <a:srgbClr val="332B60"/>
                </a:solidFill>
              </a:rPr>
              <a:t>Quisque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porttitor</a:t>
            </a:r>
            <a:r>
              <a:rPr lang="en-US" altLang="en-US" sz="1800" dirty="0">
                <a:solidFill>
                  <a:srgbClr val="332B60"/>
                </a:solidFill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</a:rPr>
              <a:t>imperiandiet</a:t>
            </a:r>
            <a:r>
              <a:rPr lang="en-US" altLang="en-US" sz="1800" dirty="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rgbClr val="332B60"/>
                </a:solidFill>
              </a:rPr>
              <a:t>Phasellus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vel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lectus</a:t>
            </a:r>
            <a:r>
              <a:rPr lang="en-US" altLang="en-US" dirty="0">
                <a:solidFill>
                  <a:srgbClr val="332B60"/>
                </a:solidFill>
              </a:rPr>
              <a:t> at </a:t>
            </a:r>
            <a:r>
              <a:rPr lang="en-US" altLang="en-US" dirty="0" err="1">
                <a:solidFill>
                  <a:srgbClr val="332B60"/>
                </a:solidFill>
              </a:rPr>
              <a:t>orci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ornare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ultrices</a:t>
            </a:r>
            <a:r>
              <a:rPr lang="en-US" altLang="en-US" dirty="0">
                <a:solidFill>
                  <a:srgbClr val="332B60"/>
                </a:solidFill>
              </a:rPr>
              <a:t>. Viva </a:t>
            </a:r>
            <a:r>
              <a:rPr lang="en-US" altLang="en-US" dirty="0" err="1">
                <a:solidFill>
                  <a:srgbClr val="332B60"/>
                </a:solidFill>
              </a:rPr>
              <a:t>etmus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justo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est</a:t>
            </a:r>
            <a:r>
              <a:rPr lang="en-US" altLang="en-US" dirty="0">
                <a:solidFill>
                  <a:srgbClr val="332B60"/>
                </a:solidFill>
              </a:rPr>
              <a:t>, </a:t>
            </a:r>
            <a:r>
              <a:rPr lang="en-US" altLang="en-US" dirty="0" err="1">
                <a:solidFill>
                  <a:srgbClr val="332B60"/>
                </a:solidFill>
              </a:rPr>
              <a:t>vulputate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eu</a:t>
            </a:r>
            <a:r>
              <a:rPr lang="et-EE" altLang="en-US" dirty="0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rgbClr val="332B60"/>
                </a:solidFill>
              </a:rPr>
              <a:t>Phasellus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vel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lectus</a:t>
            </a:r>
            <a:r>
              <a:rPr lang="en-US" altLang="en-US" dirty="0">
                <a:solidFill>
                  <a:srgbClr val="332B60"/>
                </a:solidFill>
              </a:rPr>
              <a:t> at </a:t>
            </a:r>
            <a:r>
              <a:rPr lang="en-US" altLang="en-US" dirty="0" err="1">
                <a:solidFill>
                  <a:srgbClr val="332B60"/>
                </a:solidFill>
              </a:rPr>
              <a:t>orci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ornare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ultrices</a:t>
            </a:r>
            <a:r>
              <a:rPr lang="en-US" altLang="en-US" dirty="0">
                <a:solidFill>
                  <a:srgbClr val="332B60"/>
                </a:solidFill>
              </a:rPr>
              <a:t>. Viva </a:t>
            </a:r>
            <a:r>
              <a:rPr lang="en-US" altLang="en-US" dirty="0" err="1">
                <a:solidFill>
                  <a:srgbClr val="332B60"/>
                </a:solidFill>
              </a:rPr>
              <a:t>etmus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justo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est</a:t>
            </a:r>
            <a:r>
              <a:rPr lang="en-US" altLang="en-US" dirty="0">
                <a:solidFill>
                  <a:srgbClr val="332B60"/>
                </a:solidFill>
              </a:rPr>
              <a:t>, </a:t>
            </a:r>
            <a:r>
              <a:rPr lang="en-US" altLang="en-US" dirty="0" err="1">
                <a:solidFill>
                  <a:srgbClr val="332B60"/>
                </a:solidFill>
              </a:rPr>
              <a:t>vulputate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eu</a:t>
            </a:r>
            <a:r>
              <a:rPr lang="et-EE" altLang="en-US" dirty="0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dirty="0" err="1">
                <a:solidFill>
                  <a:srgbClr val="332B60"/>
                </a:solidFill>
              </a:rPr>
              <a:t>Phasellus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vel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lectus</a:t>
            </a:r>
            <a:r>
              <a:rPr lang="en-US" altLang="en-US" dirty="0">
                <a:solidFill>
                  <a:srgbClr val="332B60"/>
                </a:solidFill>
              </a:rPr>
              <a:t> at </a:t>
            </a:r>
            <a:r>
              <a:rPr lang="en-US" altLang="en-US" dirty="0" err="1">
                <a:solidFill>
                  <a:srgbClr val="332B60"/>
                </a:solidFill>
              </a:rPr>
              <a:t>orci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ornare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ultrices</a:t>
            </a:r>
            <a:r>
              <a:rPr lang="en-US" altLang="en-US" dirty="0">
                <a:solidFill>
                  <a:srgbClr val="332B60"/>
                </a:solidFill>
              </a:rPr>
              <a:t>. Viva </a:t>
            </a:r>
            <a:r>
              <a:rPr lang="en-US" altLang="en-US" dirty="0" err="1">
                <a:solidFill>
                  <a:srgbClr val="332B60"/>
                </a:solidFill>
              </a:rPr>
              <a:t>etmus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justo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est</a:t>
            </a:r>
            <a:r>
              <a:rPr lang="en-US" altLang="en-US" dirty="0">
                <a:solidFill>
                  <a:srgbClr val="332B60"/>
                </a:solidFill>
              </a:rPr>
              <a:t>, </a:t>
            </a:r>
            <a:r>
              <a:rPr lang="en-US" altLang="en-US" dirty="0" err="1">
                <a:solidFill>
                  <a:srgbClr val="332B60"/>
                </a:solidFill>
              </a:rPr>
              <a:t>vulputate</a:t>
            </a:r>
            <a:r>
              <a:rPr lang="en-US" altLang="en-US" dirty="0">
                <a:solidFill>
                  <a:srgbClr val="332B60"/>
                </a:solidFill>
              </a:rPr>
              <a:t> </a:t>
            </a:r>
            <a:r>
              <a:rPr lang="en-US" altLang="en-US" dirty="0" err="1">
                <a:solidFill>
                  <a:srgbClr val="332B60"/>
                </a:solidFill>
              </a:rPr>
              <a:t>eu</a:t>
            </a:r>
            <a:r>
              <a:rPr lang="et-EE" altLang="en-US" dirty="0">
                <a:solidFill>
                  <a:srgbClr val="332B60"/>
                </a:solidFill>
              </a:rPr>
              <a:t>.</a:t>
            </a:r>
            <a:endParaRPr lang="en-US" altLang="en-US" dirty="0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</a:pPr>
            <a:r>
              <a:rPr lang="et-EE" altLang="en-US" sz="1800" dirty="0">
                <a:solidFill>
                  <a:srgbClr val="332B60"/>
                </a:solidFill>
                <a:latin typeface="+mn-lt"/>
              </a:rPr>
              <a:t>B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rutrum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ut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turpis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Sed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332B60"/>
                </a:solidFill>
                <a:latin typeface="+mn-lt"/>
              </a:rPr>
              <a:t>velit</a:t>
            </a:r>
            <a:r>
              <a:rPr lang="en-US" altLang="en-US" sz="1800" dirty="0">
                <a:solidFill>
                  <a:srgbClr val="332B60"/>
                </a:solidFill>
                <a:latin typeface="+mn-lt"/>
              </a:rPr>
              <a:t>. 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dirty="0" err="1">
                <a:solidFill>
                  <a:srgbClr val="332B60"/>
                </a:solidFill>
              </a:rPr>
              <a:t>Sed</a:t>
            </a:r>
            <a:r>
              <a:rPr lang="en-US" altLang="en-US" sz="1800" dirty="0">
                <a:solidFill>
                  <a:srgbClr val="332B60"/>
                </a:solidFill>
              </a:rPr>
              <a:t> semper </a:t>
            </a:r>
            <a:r>
              <a:rPr lang="en-US" altLang="en-US" sz="1800" dirty="0" err="1">
                <a:solidFill>
                  <a:srgbClr val="332B60"/>
                </a:solidFill>
              </a:rPr>
              <a:t>augue</a:t>
            </a:r>
            <a:r>
              <a:rPr lang="en-US" altLang="en-US" sz="1800" dirty="0">
                <a:solidFill>
                  <a:srgbClr val="332B60"/>
                </a:solidFill>
              </a:rPr>
              <a:t>.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 dirty="0"/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 dirty="0"/>
          </a:p>
          <a:p>
            <a:pPr lvl="2"/>
            <a:endParaRPr lang="et-EE" dirty="0"/>
          </a:p>
          <a:p>
            <a:pPr lvl="0"/>
            <a:endParaRPr lang="et-EE" dirty="0"/>
          </a:p>
        </p:txBody>
      </p:sp>
      <p:sp>
        <p:nvSpPr>
          <p:cNvPr id="4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76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pos="1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/>
            </a:lvl2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83498" y="3244275"/>
            <a:ext cx="8790444" cy="253088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t-EE" dirty="0"/>
              <a:t>Redigeeri juhtslaidi tekstilaade</a:t>
            </a:r>
          </a:p>
          <a:p>
            <a:pPr lvl="1"/>
            <a:r>
              <a:rPr lang="et-EE" dirty="0"/>
              <a:t>Redigeeri teksti</a:t>
            </a:r>
          </a:p>
          <a:p>
            <a:pPr lvl="2"/>
            <a:r>
              <a:rPr lang="et-EE" dirty="0"/>
              <a:t>Redigeeri teksti</a:t>
            </a:r>
          </a:p>
          <a:p>
            <a:pPr lvl="2"/>
            <a:endParaRPr lang="et-EE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6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4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59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0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 dirty="0"/>
              <a:t>Redigeeri juhtslaidi tekstilaade</a:t>
            </a:r>
          </a:p>
          <a:p>
            <a:pPr lvl="1"/>
            <a:r>
              <a:rPr lang="et-EE" dirty="0"/>
              <a:t>Redigeeri teksti</a:t>
            </a:r>
          </a:p>
          <a:p>
            <a:pPr lvl="2"/>
            <a:r>
              <a:rPr lang="et-EE" dirty="0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 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2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200" b="1" i="0"/>
            </a:lvl2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 dirty="0"/>
              <a:t>Redigeeri juhtslaidi tekstilaade</a:t>
            </a:r>
          </a:p>
          <a:p>
            <a:pPr lvl="1"/>
            <a:r>
              <a:rPr lang="et-EE" dirty="0"/>
              <a:t>Redigeeri teksti</a:t>
            </a:r>
          </a:p>
          <a:p>
            <a:pPr lvl="2"/>
            <a:r>
              <a:rPr lang="et-EE" dirty="0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 dirty="0"/>
              <a:t>Redigeeri teksti </a:t>
            </a:r>
          </a:p>
        </p:txBody>
      </p:sp>
    </p:spTree>
    <p:extLst>
      <p:ext uri="{BB962C8B-B14F-4D97-AF65-F5344CB8AC3E}">
        <p14:creationId xmlns:p14="http://schemas.microsoft.com/office/powerpoint/2010/main" val="23950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 hasCustomPrompt="1"/>
          </p:nvPr>
        </p:nvSpPr>
        <p:spPr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Diagrammi lisamiseks klõpsake ikooni</a:t>
            </a:r>
            <a:endParaRPr lang="en-US" noProof="0" dirty="0"/>
          </a:p>
        </p:txBody>
      </p:sp>
      <p:sp>
        <p:nvSpPr>
          <p:cNvPr id="7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5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7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 b="1" i="0"/>
            </a:lvl2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t-EE" noProof="0" dirty="0"/>
              <a:t>Tabeli lisamiseks klõpsake ikooni</a:t>
            </a:r>
            <a:endParaRPr lang="en-US" noProof="0" dirty="0"/>
          </a:p>
        </p:txBody>
      </p:sp>
      <p:sp>
        <p:nvSpPr>
          <p:cNvPr id="4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5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6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656886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</a:t>
            </a:r>
          </a:p>
          <a:p>
            <a:pPr lvl="0"/>
            <a:r>
              <a:rPr lang="et-EE" dirty="0"/>
              <a:t>Vajadusel kahel real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 dirty="0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 dirty="0"/>
              <a:t>Pildi lisamiseks klõpsake ikooni</a:t>
            </a:r>
            <a:endParaRPr lang="en-US" noProof="0" dirty="0"/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 dirty="0"/>
              <a:t>TALLINNA TEHNIKAÜLIKOOL</a:t>
            </a:r>
            <a:endParaRPr lang="en-US" altLang="en-US" sz="1200" b="0" dirty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2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t-EE" altLang="en-US" sz="2900" dirty="0" err="1">
                <a:solidFill>
                  <a:schemeClr val="tx2"/>
                </a:solidFill>
              </a:rPr>
              <a:t>VaheSLAIDI</a:t>
            </a:r>
            <a:r>
              <a:rPr lang="et-EE" altLang="en-US" sz="2900" dirty="0">
                <a:solidFill>
                  <a:schemeClr val="tx2"/>
                </a:solidFill>
              </a:rPr>
              <a:t> pealkiri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 dirty="0">
                <a:solidFill>
                  <a:schemeClr val="accent1"/>
                </a:solidFill>
              </a:rPr>
              <a:t>Vajadusel ka KAHEL või kolmel REAL</a:t>
            </a:r>
            <a:endParaRPr lang="en-US" altLang="en-US" sz="2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rgbClr val="332B60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n-US" altLang="en-US" dirty="0"/>
              <a:t>TALLINN</a:t>
            </a:r>
            <a:r>
              <a:rPr lang="et-EE" altLang="en-US" dirty="0"/>
              <a:t>A</a:t>
            </a:r>
            <a:r>
              <a:rPr lang="en-US" altLang="en-US" dirty="0"/>
              <a:t> </a:t>
            </a:r>
            <a:r>
              <a:rPr lang="et-EE" altLang="en-US" dirty="0"/>
              <a:t>TEHNIKAÜLIKOOL</a:t>
            </a:r>
            <a:endParaRPr lang="en-US" altLang="en-US" dirty="0"/>
          </a:p>
          <a:p>
            <a:r>
              <a:rPr lang="en-US" altLang="en-US" sz="1700" b="0" cap="none" dirty="0" err="1">
                <a:solidFill>
                  <a:schemeClr val="accent2"/>
                </a:solidFill>
              </a:rPr>
              <a:t>Ehitajate</a:t>
            </a:r>
            <a:r>
              <a:rPr lang="en-US" altLang="en-US" sz="1700" b="0" cap="none" dirty="0">
                <a:solidFill>
                  <a:schemeClr val="accent2"/>
                </a:solidFill>
              </a:rPr>
              <a:t> </a:t>
            </a:r>
            <a:r>
              <a:rPr lang="et-EE" altLang="en-US" sz="1700" b="0" cap="none" dirty="0">
                <a:solidFill>
                  <a:schemeClr val="accent2"/>
                </a:solidFill>
              </a:rPr>
              <a:t>tee</a:t>
            </a:r>
            <a:r>
              <a:rPr lang="en-US" altLang="en-US" sz="1700" b="0" cap="none" dirty="0">
                <a:solidFill>
                  <a:schemeClr val="accent2"/>
                </a:solidFill>
              </a:rPr>
              <a:t> 5, 19086 Tallinn</a:t>
            </a:r>
            <a:r>
              <a:rPr lang="et-EE" altLang="en-US" sz="1700" b="0" cap="none" dirty="0">
                <a:solidFill>
                  <a:schemeClr val="accent2"/>
                </a:solidFill>
              </a:rPr>
              <a:t>, </a:t>
            </a:r>
          </a:p>
          <a:p>
            <a:r>
              <a:rPr lang="et-EE" altLang="en-US" sz="1700" b="0" cap="none" dirty="0">
                <a:solidFill>
                  <a:schemeClr val="accent2"/>
                </a:solidFill>
              </a:rPr>
              <a:t>Tel </a:t>
            </a:r>
            <a:r>
              <a:rPr lang="en-US" altLang="en-US" sz="1700" b="0" cap="none" dirty="0">
                <a:solidFill>
                  <a:schemeClr val="accent2"/>
                </a:solidFill>
              </a:rPr>
              <a:t>620 2002 (</a:t>
            </a:r>
            <a:r>
              <a:rPr lang="et-EE" altLang="en-US" sz="1700" b="0" cap="none" dirty="0">
                <a:solidFill>
                  <a:schemeClr val="accent2"/>
                </a:solidFill>
              </a:rPr>
              <a:t>E-R</a:t>
            </a:r>
            <a:r>
              <a:rPr lang="en-US" altLang="en-US" sz="1700" b="0" cap="none" dirty="0">
                <a:solidFill>
                  <a:schemeClr val="accent2"/>
                </a:solidFill>
              </a:rPr>
              <a:t> 8.30–</a:t>
            </a:r>
            <a:r>
              <a:rPr lang="et-EE" altLang="en-US" sz="1700" b="0" cap="none" dirty="0">
                <a:solidFill>
                  <a:schemeClr val="accent2"/>
                </a:solidFill>
              </a:rPr>
              <a:t>17</a:t>
            </a:r>
            <a:r>
              <a:rPr lang="en-US" altLang="en-US" sz="1700" b="0" cap="none" dirty="0">
                <a:solidFill>
                  <a:schemeClr val="accent2"/>
                </a:solidFill>
              </a:rPr>
              <a:t>.00</a:t>
            </a:r>
            <a:r>
              <a:rPr lang="et-EE" altLang="en-US" sz="1700" b="0" cap="none" dirty="0">
                <a:solidFill>
                  <a:schemeClr val="accent2"/>
                </a:solidFill>
              </a:rPr>
              <a:t>)</a:t>
            </a:r>
            <a:endParaRPr lang="en-US" altLang="en-US" sz="1700" cap="none" dirty="0">
              <a:solidFill>
                <a:schemeClr val="accent2"/>
              </a:solidFill>
            </a:endParaRPr>
          </a:p>
          <a:p>
            <a:r>
              <a:rPr lang="en-US" altLang="en-US" sz="1700" cap="none" dirty="0">
                <a:solidFill>
                  <a:schemeClr val="accent2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dirty="0" err="1">
                <a:solidFill>
                  <a:schemeClr val="accent2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 dirty="0">
                <a:solidFill>
                  <a:schemeClr val="accent2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dirty="0" err="1">
                <a:solidFill>
                  <a:schemeClr val="accent2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t="19052" r="15651" b="26172"/>
          <a:stretch/>
        </p:blipFill>
        <p:spPr>
          <a:xfrm>
            <a:off x="462334" y="5732251"/>
            <a:ext cx="1085205" cy="64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9" r:id="rId11"/>
    <p:sldLayoutId id="2147483920" r:id="rId12"/>
  </p:sldLayoutIdLst>
  <p:hf sldNum="0"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1368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864" r="28" b="21504"/>
          <a:stretch/>
        </p:blipFill>
        <p:spPr>
          <a:xfrm>
            <a:off x="-22991" y="0"/>
            <a:ext cx="12211607" cy="4876251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-1" y="1958640"/>
            <a:ext cx="12192000" cy="4899360"/>
            <a:chOff x="-1" y="1958640"/>
            <a:chExt cx="12192000" cy="4899360"/>
          </a:xfrm>
        </p:grpSpPr>
        <p:sp>
          <p:nvSpPr>
            <p:cNvPr id="10" name="Freeform 9"/>
            <p:cNvSpPr/>
            <p:nvPr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7555" y="1958640"/>
              <a:ext cx="2447645" cy="1370681"/>
            </a:xfrm>
            <a:prstGeom prst="rect">
              <a:avLst/>
            </a:prstGeom>
          </p:spPr>
        </p:pic>
      </p:grpSp>
      <p:sp>
        <p:nvSpPr>
          <p:cNvPr id="11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953642" y="4457129"/>
            <a:ext cx="8083996" cy="1205366"/>
          </a:xfrm>
        </p:spPr>
        <p:txBody>
          <a:bodyPr/>
          <a:lstStyle/>
          <a:p>
            <a:r>
              <a:rPr lang="et-EE" sz="3600" dirty="0"/>
              <a:t>Teaduskoostööst</a:t>
            </a:r>
            <a:endParaRPr lang="et-EE" sz="3600" dirty="0">
              <a:solidFill>
                <a:schemeClr val="accent1"/>
              </a:solidFill>
            </a:endParaRPr>
          </a:p>
        </p:txBody>
      </p:sp>
      <p:sp>
        <p:nvSpPr>
          <p:cNvPr id="14" name="Teksti kohatäide 5"/>
          <p:cNvSpPr>
            <a:spLocks noGrp="1"/>
          </p:cNvSpPr>
          <p:nvPr>
            <p:ph type="body" sz="quarter" idx="13"/>
          </p:nvPr>
        </p:nvSpPr>
        <p:spPr>
          <a:xfrm>
            <a:off x="958720" y="5731946"/>
            <a:ext cx="5800895" cy="91144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 dirty="0">
                <a:solidFill>
                  <a:srgbClr val="332B60"/>
                </a:solidFill>
              </a:rPr>
              <a:t>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6883" y="6226764"/>
            <a:ext cx="267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t-EE" dirty="0">
                <a:solidFill>
                  <a:srgbClr val="332B60"/>
                </a:solidFill>
                <a:latin typeface="+mn-lt"/>
              </a:rPr>
              <a:t>08.09.2026</a:t>
            </a:r>
          </a:p>
        </p:txBody>
      </p:sp>
    </p:spTree>
    <p:extLst>
      <p:ext uri="{BB962C8B-B14F-4D97-AF65-F5344CB8AC3E}">
        <p14:creationId xmlns:p14="http://schemas.microsoft.com/office/powerpoint/2010/main" val="15990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2F2BBD-9138-F0D9-AECB-C49442388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/>
              <a:t>Teemad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9D9DD-22BF-6A5C-CD2E-B12B654D05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sz="2800" dirty="0"/>
              <a:t>Alamtöörühmad</a:t>
            </a:r>
          </a:p>
          <a:p>
            <a:r>
              <a:rPr lang="et-EE" sz="2800" dirty="0"/>
              <a:t>Alusteadmiste seminarid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1856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 dirty="0" err="1"/>
              <a:t>Kohalkäimine</a:t>
            </a:r>
            <a:r>
              <a:rPr lang="et-EE" altLang="en-US" dirty="0"/>
              <a:t> või kaugtöö? </a:t>
            </a:r>
          </a:p>
          <a:p>
            <a:r>
              <a:rPr lang="et-EE" altLang="en-US" dirty="0"/>
              <a:t>Koostöö.</a:t>
            </a:r>
            <a:endParaRPr lang="en-US" altLang="en-US" dirty="0"/>
          </a:p>
          <a:p>
            <a:endParaRPr lang="en-US" altLang="en-US" dirty="0">
              <a:solidFill>
                <a:srgbClr val="332B60"/>
              </a:solidFill>
            </a:endParaRPr>
          </a:p>
        </p:txBody>
      </p:sp>
      <p:sp>
        <p:nvSpPr>
          <p:cNvPr id="614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171699" y="1628775"/>
            <a:ext cx="8802242" cy="4040505"/>
          </a:xfrm>
        </p:spPr>
        <p:txBody>
          <a:bodyPr/>
          <a:lstStyle/>
          <a:p>
            <a:r>
              <a:rPr lang="et-EE" altLang="en-US" i="1" dirty="0"/>
              <a:t>The </a:t>
            </a:r>
            <a:r>
              <a:rPr lang="et-EE" altLang="en-US" i="1" dirty="0" err="1"/>
              <a:t>limitation</a:t>
            </a:r>
            <a:r>
              <a:rPr lang="et-EE" altLang="en-US" i="1" dirty="0"/>
              <a:t> of </a:t>
            </a:r>
            <a:r>
              <a:rPr lang="et-EE" altLang="en-US" i="1" dirty="0" err="1"/>
              <a:t>study</a:t>
            </a:r>
            <a:r>
              <a:rPr lang="et-EE" altLang="en-US" i="1" dirty="0"/>
              <a:t> </a:t>
            </a:r>
            <a:r>
              <a:rPr lang="et-EE" altLang="en-US" i="1" dirty="0" err="1"/>
              <a:t>for</a:t>
            </a:r>
            <a:r>
              <a:rPr lang="et-EE" altLang="en-US" i="1" dirty="0"/>
              <a:t> </a:t>
            </a:r>
            <a:r>
              <a:rPr lang="et-EE" altLang="en-US" i="1" dirty="0" err="1"/>
              <a:t>generalizing</a:t>
            </a:r>
            <a:r>
              <a:rPr lang="et-EE" altLang="en-US" i="1" dirty="0"/>
              <a:t> </a:t>
            </a:r>
            <a:r>
              <a:rPr lang="et-EE" altLang="en-US" i="1" dirty="0" err="1"/>
              <a:t>to</a:t>
            </a:r>
            <a:r>
              <a:rPr lang="et-EE" altLang="en-US" i="1" dirty="0"/>
              <a:t> </a:t>
            </a:r>
            <a:r>
              <a:rPr lang="et-EE" altLang="en-US" i="1" dirty="0" err="1"/>
              <a:t>office</a:t>
            </a:r>
            <a:r>
              <a:rPr lang="et-EE" altLang="en-US" i="1" dirty="0"/>
              <a:t> </a:t>
            </a:r>
            <a:r>
              <a:rPr lang="et-EE" altLang="en-US" i="1" dirty="0" err="1"/>
              <a:t>work</a:t>
            </a:r>
            <a:r>
              <a:rPr lang="et-EE" altLang="en-US" i="1" dirty="0"/>
              <a:t> </a:t>
            </a:r>
            <a:r>
              <a:rPr lang="et-EE" altLang="en-US" i="1" dirty="0" err="1"/>
              <a:t>is</a:t>
            </a:r>
            <a:r>
              <a:rPr lang="et-EE" altLang="en-US" i="1" dirty="0"/>
              <a:t> </a:t>
            </a:r>
            <a:r>
              <a:rPr lang="et-EE" altLang="en-US" i="1" dirty="0" err="1"/>
              <a:t>that</a:t>
            </a:r>
            <a:r>
              <a:rPr lang="et-EE" altLang="en-US" i="1" dirty="0"/>
              <a:t> </a:t>
            </a:r>
            <a:r>
              <a:rPr lang="et-EE" altLang="en-US" i="1" dirty="0" err="1"/>
              <a:t>these</a:t>
            </a:r>
            <a:r>
              <a:rPr lang="et-EE" altLang="en-US" i="1" dirty="0"/>
              <a:t> </a:t>
            </a:r>
            <a:r>
              <a:rPr lang="et-EE" altLang="en-US" i="1" dirty="0" err="1"/>
              <a:t>travel</a:t>
            </a:r>
            <a:r>
              <a:rPr lang="et-EE" altLang="en-US" i="1" dirty="0"/>
              <a:t> agent </a:t>
            </a:r>
            <a:r>
              <a:rPr lang="et-EE" altLang="en-US" i="1" dirty="0" err="1"/>
              <a:t>jobs</a:t>
            </a:r>
            <a:r>
              <a:rPr lang="et-EE" altLang="en-US" i="1" dirty="0"/>
              <a:t> </a:t>
            </a:r>
            <a:r>
              <a:rPr lang="et-EE" altLang="en-US" i="1" dirty="0" err="1"/>
              <a:t>did</a:t>
            </a:r>
            <a:r>
              <a:rPr lang="et-EE" altLang="en-US" i="1" dirty="0"/>
              <a:t> </a:t>
            </a:r>
            <a:r>
              <a:rPr lang="et-EE" altLang="en-US" i="1" dirty="0" err="1"/>
              <a:t>not</a:t>
            </a:r>
            <a:r>
              <a:rPr lang="et-EE" altLang="en-US" i="1" dirty="0"/>
              <a:t> </a:t>
            </a:r>
            <a:r>
              <a:rPr lang="et-EE" altLang="en-US" i="1" dirty="0" err="1"/>
              <a:t>require</a:t>
            </a:r>
            <a:r>
              <a:rPr lang="et-EE" altLang="en-US" i="1" dirty="0"/>
              <a:t> </a:t>
            </a:r>
            <a:r>
              <a:rPr lang="et-EE" altLang="en-US" i="1" dirty="0" err="1"/>
              <a:t>employees</a:t>
            </a:r>
            <a:r>
              <a:rPr lang="et-EE" altLang="en-US" i="1" dirty="0"/>
              <a:t> </a:t>
            </a:r>
            <a:r>
              <a:rPr lang="et-EE" altLang="en-US" i="1" dirty="0" err="1"/>
              <a:t>to</a:t>
            </a:r>
            <a:r>
              <a:rPr lang="et-EE" altLang="en-US" i="1" dirty="0"/>
              <a:t> </a:t>
            </a:r>
            <a:r>
              <a:rPr lang="et-EE" altLang="en-US" i="1" dirty="0" err="1"/>
              <a:t>work</a:t>
            </a:r>
            <a:r>
              <a:rPr lang="et-EE" altLang="en-US" i="1" dirty="0"/>
              <a:t> </a:t>
            </a:r>
            <a:r>
              <a:rPr lang="et-EE" altLang="en-US" i="1" dirty="0" err="1"/>
              <a:t>or</a:t>
            </a:r>
            <a:r>
              <a:rPr lang="et-EE" altLang="en-US" i="1" dirty="0"/>
              <a:t> </a:t>
            </a:r>
            <a:r>
              <a:rPr lang="et-EE" altLang="en-US" i="1" dirty="0" err="1"/>
              <a:t>even</a:t>
            </a:r>
            <a:r>
              <a:rPr lang="et-EE" altLang="en-US" i="1" dirty="0"/>
              <a:t> </a:t>
            </a:r>
            <a:r>
              <a:rPr lang="et-EE" altLang="en-US" i="1" dirty="0" err="1"/>
              <a:t>interact</a:t>
            </a:r>
            <a:r>
              <a:rPr lang="et-EE" altLang="en-US" i="1" dirty="0"/>
              <a:t> </a:t>
            </a:r>
            <a:r>
              <a:rPr lang="et-EE" altLang="en-US" i="1" dirty="0" err="1"/>
              <a:t>much</a:t>
            </a:r>
            <a:r>
              <a:rPr lang="et-EE" altLang="en-US" i="1" dirty="0"/>
              <a:t> </a:t>
            </a:r>
            <a:r>
              <a:rPr lang="et-EE" altLang="en-US" i="1" dirty="0" err="1"/>
              <a:t>with</a:t>
            </a:r>
            <a:r>
              <a:rPr lang="et-EE" altLang="en-US" i="1" dirty="0"/>
              <a:t> </a:t>
            </a:r>
            <a:r>
              <a:rPr lang="et-EE" altLang="en-US" i="1" dirty="0" err="1"/>
              <a:t>each</a:t>
            </a:r>
            <a:r>
              <a:rPr lang="et-EE" altLang="en-US" i="1" dirty="0"/>
              <a:t> ohter.</a:t>
            </a:r>
          </a:p>
          <a:p>
            <a:endParaRPr lang="et-EE" altLang="en-US" i="1" dirty="0"/>
          </a:p>
          <a:p>
            <a:pPr marL="0" indent="0">
              <a:buNone/>
            </a:pPr>
            <a:r>
              <a:rPr lang="et-EE" altLang="en-US" b="1" dirty="0"/>
              <a:t>I</a:t>
            </a:r>
            <a:r>
              <a:rPr lang="en-GB" altLang="en-US" b="1" dirty="0"/>
              <a:t>n Praise of the Office: The Limits to Hybrid and Remote Work</a:t>
            </a:r>
          </a:p>
          <a:p>
            <a:pPr marL="0" indent="0">
              <a:buNone/>
            </a:pPr>
            <a:r>
              <a:rPr lang="en-GB" altLang="en-US" dirty="0"/>
              <a:t>By Peter Cappelli, Ranya </a:t>
            </a:r>
            <a:r>
              <a:rPr lang="en-GB" altLang="en-US" dirty="0" err="1"/>
              <a:t>Nehmeh</a:t>
            </a:r>
            <a:endParaRPr lang="et-EE" altLang="en-US" i="1" dirty="0"/>
          </a:p>
          <a:p>
            <a:endParaRPr lang="et-EE" altLang="en-US" i="1" dirty="0"/>
          </a:p>
          <a:p>
            <a:r>
              <a:rPr lang="et-EE" altLang="en-US" dirty="0"/>
              <a:t>Kus tekib meie rühmas vajadus teaduslikuks spontaanseks koostööks? Kas alles projektidega? Või peaks see tekkima juba varem?</a:t>
            </a:r>
          </a:p>
          <a:p>
            <a:r>
              <a:rPr lang="et-EE" altLang="en-US" dirty="0"/>
              <a:t>Ehk tuleks teadustöö korraldus uurimisrühmas läbi arutada?</a:t>
            </a:r>
          </a:p>
          <a:p>
            <a:r>
              <a:rPr lang="et-EE" altLang="en-US" dirty="0"/>
              <a:t>Väiksemad alamtöörühmad?</a:t>
            </a:r>
          </a:p>
        </p:txBody>
      </p:sp>
    </p:spTree>
    <p:extLst>
      <p:ext uri="{BB962C8B-B14F-4D97-AF65-F5344CB8AC3E}">
        <p14:creationId xmlns:p14="http://schemas.microsoft.com/office/powerpoint/2010/main" val="14761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30DA-6A0A-729D-8278-38DDE15B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>
            <a:extLst>
              <a:ext uri="{FF2B5EF4-FFF2-40B4-BE49-F238E27FC236}">
                <a16:creationId xmlns:a16="http://schemas.microsoft.com/office/drawing/2014/main" id="{6A8D49C4-243C-1937-6AC3-889A5A9FDA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 dirty="0"/>
              <a:t>alamtöörühmad</a:t>
            </a:r>
            <a:endParaRPr lang="en-US" altLang="en-US" dirty="0"/>
          </a:p>
          <a:p>
            <a:endParaRPr lang="en-US" altLang="en-US" dirty="0">
              <a:solidFill>
                <a:srgbClr val="332B60"/>
              </a:solidFill>
            </a:endParaRPr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9E6EFB1A-4CB2-5D3F-AF06-8F98190CDA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11640" y="1242882"/>
            <a:ext cx="8802242" cy="4822358"/>
          </a:xfrm>
        </p:spPr>
        <p:txBody>
          <a:bodyPr/>
          <a:lstStyle/>
          <a:p>
            <a:r>
              <a:rPr lang="et-EE" altLang="en-US" sz="2400" dirty="0"/>
              <a:t>Eesmärk on saada paremini käima teaduskoostöö meie uurimisrühmas.</a:t>
            </a:r>
          </a:p>
          <a:p>
            <a:r>
              <a:rPr lang="et-EE" altLang="en-US" sz="2400" dirty="0"/>
              <a:t>Paljud rühma liikmed pole teadustöösse kuigi aktiivselt kaasatud.</a:t>
            </a:r>
          </a:p>
          <a:p>
            <a:r>
              <a:rPr lang="et-EE" altLang="en-US" sz="2400" dirty="0"/>
              <a:t>Ootaks artikleid paljude autoritega meie rühmast.</a:t>
            </a:r>
          </a:p>
          <a:p>
            <a:r>
              <a:rPr lang="et-EE" altLang="en-US" sz="2400" dirty="0"/>
              <a:t>Kuna rühm on mitmekülgsete huvidega, siis tundub mõistlik kaardistada koostööks alamtöörühmad.</a:t>
            </a:r>
          </a:p>
          <a:p>
            <a:r>
              <a:rPr lang="et-EE" altLang="en-US" sz="2400" dirty="0"/>
              <a:t>Igal sellisel rühmal oleks oma vedaja ja oma liikmed, kes korrapäraselt kohtuksid.</a:t>
            </a:r>
          </a:p>
          <a:p>
            <a:endParaRPr lang="et-EE" altLang="en-US" dirty="0"/>
          </a:p>
        </p:txBody>
      </p:sp>
    </p:spTree>
    <p:extLst>
      <p:ext uri="{BB962C8B-B14F-4D97-AF65-F5344CB8AC3E}">
        <p14:creationId xmlns:p14="http://schemas.microsoft.com/office/powerpoint/2010/main" val="21495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83D7E-FA01-1BE9-75CB-181A7B74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>
            <a:extLst>
              <a:ext uri="{FF2B5EF4-FFF2-40B4-BE49-F238E27FC236}">
                <a16:creationId xmlns:a16="http://schemas.microsoft.com/office/drawing/2014/main" id="{F4ED4055-DA55-E326-9A57-49C10AF377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 dirty="0" err="1"/>
              <a:t>alamtöörühmadE</a:t>
            </a:r>
            <a:r>
              <a:rPr lang="et-EE" altLang="en-US" dirty="0"/>
              <a:t> KANDIDAADID</a:t>
            </a:r>
            <a:endParaRPr lang="en-US" altLang="en-US" dirty="0"/>
          </a:p>
          <a:p>
            <a:endParaRPr lang="en-US" altLang="en-US" dirty="0">
              <a:solidFill>
                <a:srgbClr val="332B60"/>
              </a:solidFill>
            </a:endParaRPr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4D61498D-0319-3FF4-4BD6-351E91200A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11640" y="1242882"/>
            <a:ext cx="8802242" cy="4822358"/>
          </a:xfrm>
        </p:spPr>
        <p:txBody>
          <a:bodyPr/>
          <a:lstStyle/>
          <a:p>
            <a:r>
              <a:rPr lang="et-EE" altLang="en-US" sz="2400" dirty="0"/>
              <a:t>Järgnev loetelu on lihtsalt hulk kandidaate: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/>
              <a:t>Terviseinformaatika ((Gunnar,) </a:t>
            </a:r>
            <a:r>
              <a:rPr lang="et-EE" altLang="en-US" sz="2400" dirty="0"/>
              <a:t>Igor)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 dirty="0"/>
              <a:t>Haridustehnoloogiad (Kristina)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 dirty="0"/>
              <a:t>Tarkvaraarendus (Erki)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 dirty="0"/>
              <a:t>Tööstusprotsesside optimeerimine (Ants)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 dirty="0"/>
              <a:t>I-valimised (Tarvo)</a:t>
            </a:r>
          </a:p>
          <a:p>
            <a:pPr marL="800100" lvl="1" indent="-342900">
              <a:buFont typeface="+mj-lt"/>
              <a:buAutoNum type="arabicPeriod"/>
            </a:pPr>
            <a:r>
              <a:rPr lang="et-EE" altLang="en-US" sz="2400" dirty="0"/>
              <a:t>Keeletehnoloogia (Ahti)</a:t>
            </a:r>
          </a:p>
          <a:p>
            <a:endParaRPr lang="et-EE" altLang="en-US" dirty="0"/>
          </a:p>
          <a:p>
            <a:r>
              <a:rPr lang="et-EE" altLang="en-US" sz="2400" dirty="0"/>
              <a:t>Mis sobiks? Võib osaleda ka mitmes alamtöörühmas.</a:t>
            </a:r>
          </a:p>
          <a:p>
            <a:r>
              <a:rPr lang="et-EE" altLang="en-US" sz="2400" dirty="0"/>
              <a:t>Kas mingi rühm on üle? Puudu? Võiks paremini defineerida?</a:t>
            </a:r>
          </a:p>
        </p:txBody>
      </p:sp>
    </p:spTree>
    <p:extLst>
      <p:ext uri="{BB962C8B-B14F-4D97-AF65-F5344CB8AC3E}">
        <p14:creationId xmlns:p14="http://schemas.microsoft.com/office/powerpoint/2010/main" val="272611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EC7587-5D61-9911-47EA-7C6B7ECB42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/>
              <a:t>ALAMTÖÖRÜHMADE PAIKAPANEKU KOHTUMINE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9B44B-30FD-7C83-B5FC-D9E6F7C780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altLang="en-US" sz="2400" dirty="0"/>
              <a:t>Korraldada kohtumine alamtöörühmade iteratiivseks defineerimiseks, veidi nagu Rakvere </a:t>
            </a:r>
            <a:r>
              <a:rPr lang="et-EE" altLang="en-US" sz="2400" dirty="0" err="1"/>
              <a:t>TemTA</a:t>
            </a:r>
            <a:r>
              <a:rPr lang="et-EE" altLang="en-US" sz="2400" dirty="0"/>
              <a:t> seminar?</a:t>
            </a:r>
          </a:p>
          <a:p>
            <a:r>
              <a:rPr lang="et-EE" altLang="en-US" sz="2400" dirty="0"/>
              <a:t>Osalejad kas liituvad meeldivate teemadega, mida iteratiivselt täpsustatakse või pakuvad välja uued teemad. Protsess lõpeb kui enam inimeste liikumisi teemade vahel ei toimu.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38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F614-6E1C-6EE4-AF0A-626F0979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D82B8A-7A6F-C51A-0C4D-EB589213B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 err="1"/>
              <a:t>ALUSTeadMISTE</a:t>
            </a:r>
            <a:r>
              <a:rPr lang="et-EE" dirty="0"/>
              <a:t> Seminarid/Lugemisgrupid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941AE-841D-9D56-747A-677E524AA9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altLang="en-US" sz="2400" dirty="0"/>
              <a:t>Vähemalt minu alusteadmised on tihti puudulikud või vajaksid värskendamist.</a:t>
            </a:r>
          </a:p>
          <a:p>
            <a:r>
              <a:rPr lang="et-EE" altLang="en-US" sz="2400" dirty="0"/>
              <a:t>Ka tippspordis rõhutakse tihti fundamentaalsete asjade treenimisele.</a:t>
            </a:r>
          </a:p>
          <a:p>
            <a:r>
              <a:rPr lang="et-EE" altLang="en-US" sz="2400" dirty="0"/>
              <a:t>Need võivad olla rühmale ühised või mingi alamtöörühma omad.</a:t>
            </a:r>
          </a:p>
          <a:p>
            <a:r>
              <a:rPr lang="et-EE" altLang="en-US" sz="2400" dirty="0"/>
              <a:t>Ei asenda uusi teadustulemusi esitavaid seminare.</a:t>
            </a:r>
          </a:p>
          <a:p>
            <a:endParaRPr lang="et-EE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458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0CFB3-FE1E-1078-9714-849511745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BBB4E3-1AD1-0728-91A2-2C84027D32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 err="1"/>
              <a:t>ALUSTeadMISTE</a:t>
            </a:r>
            <a:r>
              <a:rPr lang="et-EE" dirty="0"/>
              <a:t> Seminaride korraldus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8936F-738E-9578-B828-2FED3F14FD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altLang="en-US" sz="2400" dirty="0"/>
              <a:t>Arutelu käigus tuleks eelistada lihtsaid küsimusi või keeruliste asjade lihtsat seletamist nende poolt, kes teemaga paremini kursis. Vältida keerukuste sisse toomist, mida teema ei eelda.</a:t>
            </a:r>
          </a:p>
          <a:p>
            <a:r>
              <a:rPr lang="et-EE" altLang="en-US" sz="2400" dirty="0"/>
              <a:t>Konfidentsiaalsus. Mis toimub seminaril ei lähe välja. </a:t>
            </a:r>
          </a:p>
          <a:p>
            <a:endParaRPr lang="et-EE" altLang="en-US" sz="2400" dirty="0"/>
          </a:p>
          <a:p>
            <a:endParaRPr lang="et-EE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49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4EE8-D0B4-1181-C695-8556C1DE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92DAB0-B9E8-EE9A-6D7E-301E7DBDA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 err="1"/>
              <a:t>ALUSTeadMISTE</a:t>
            </a:r>
            <a:r>
              <a:rPr lang="et-EE" dirty="0"/>
              <a:t> Seminaride korraldus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7E18B-0F5C-B6E5-B8B3-2E2B6C1060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altLang="en-US" sz="2400" dirty="0"/>
              <a:t>Väike eeltöö (30 min) oleks osalejatele vajalik: artikkel, õpiku peatükk või video osaliselt või täielikult läbi vaadata.</a:t>
            </a:r>
          </a:p>
          <a:p>
            <a:r>
              <a:rPr lang="et-EE" altLang="en-US" sz="2400" dirty="0"/>
              <a:t>Selliste seminaride seerial on juhataja, aga igale seminarile on määratud oma ettekandja kuulajate hulgast, kes materjalid põhjalikumalt ette valmistab ja ette kannab.</a:t>
            </a:r>
          </a:p>
          <a:p>
            <a:r>
              <a:rPr lang="et-EE" altLang="en-US" sz="2400" dirty="0"/>
              <a:t>Arutelu käigus tuleks eelistada lihtsaid küsimusi või keeruliste asjade lihtsat seletamist nende poolt, kes teemaga paremini kursis. Vältida keerukuste sisse toomist, mida teema ei eelda.</a:t>
            </a:r>
          </a:p>
          <a:p>
            <a:endParaRPr lang="et-EE" alt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68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EF13-94AC-C43C-443A-AE139E3B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8C4D8-08BC-D15B-A584-279A340DFD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 err="1"/>
              <a:t>ALUSTeadMISTE</a:t>
            </a:r>
            <a:r>
              <a:rPr lang="et-EE" dirty="0"/>
              <a:t> Seminaride </a:t>
            </a:r>
            <a:r>
              <a:rPr lang="et-EE" dirty="0" err="1"/>
              <a:t>sISU</a:t>
            </a:r>
            <a:r>
              <a:rPr lang="et-EE" dirty="0"/>
              <a:t>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F0537-1443-3B83-8E29-664F83CEE0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0365" y="1358900"/>
            <a:ext cx="8802242" cy="4140200"/>
          </a:xfrm>
        </p:spPr>
        <p:txBody>
          <a:bodyPr/>
          <a:lstStyle/>
          <a:p>
            <a:r>
              <a:rPr lang="et-EE" altLang="en-US" sz="2400" dirty="0"/>
              <a:t>Alusteadmised, mis on seotud kas meie uurimisprobleemidega või muidu kuumade teemadega.</a:t>
            </a:r>
          </a:p>
          <a:p>
            <a:r>
              <a:rPr lang="et-EE" altLang="en-US" sz="2400" dirty="0"/>
              <a:t>Alusteadmised võivad tihti olla matemaatilised ja paljudel on selliste teemade suhtes allergia. </a:t>
            </a:r>
          </a:p>
          <a:p>
            <a:r>
              <a:rPr lang="et-EE" altLang="en-US" sz="2400" dirty="0"/>
              <a:t>Kui puhta matemaatiku jaoks on meeldiv praktilisi rakendusi ignoreerida, siis meie rühma jaoks sobiks pigem idee matemaatikast kui tööjaotusest ja korduvkasutusest: tõlkides väga erinevad probleemid ühisesse keelde saab kasutada olemasolevat võimsat mehhanismi.</a:t>
            </a:r>
          </a:p>
          <a:p>
            <a:r>
              <a:rPr lang="et-EE" altLang="en-US" sz="2400" dirty="0"/>
              <a:t>Seega võiks matemaatiliste teemade puhul läbivalt rõhutada huvitavaid rakendusi.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5105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C0B6CB-3608-28DE-F952-B5545B1A20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/>
              <a:t>NÄIDE: </a:t>
            </a:r>
            <a:r>
              <a:rPr lang="et-EE" dirty="0" err="1"/>
              <a:t>Attention</a:t>
            </a:r>
            <a:r>
              <a:rPr lang="et-EE" dirty="0"/>
              <a:t> </a:t>
            </a:r>
            <a:r>
              <a:rPr lang="et-EE" dirty="0" err="1"/>
              <a:t>is</a:t>
            </a:r>
            <a:r>
              <a:rPr lang="et-EE" dirty="0"/>
              <a:t> all </a:t>
            </a:r>
            <a:r>
              <a:rPr lang="et-EE" dirty="0" err="1"/>
              <a:t>you</a:t>
            </a:r>
            <a:r>
              <a:rPr lang="et-EE" dirty="0"/>
              <a:t> need ARTIKLI mõistmise seminarid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F00C0-AEEF-4E7A-0F4D-A5CB84378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i="1" dirty="0" err="1"/>
              <a:t>Attention</a:t>
            </a:r>
            <a:r>
              <a:rPr lang="et-EE" i="1" dirty="0"/>
              <a:t> </a:t>
            </a:r>
            <a:r>
              <a:rPr lang="et-EE" i="1" dirty="0" err="1"/>
              <a:t>is</a:t>
            </a:r>
            <a:r>
              <a:rPr lang="et-EE" i="1" dirty="0"/>
              <a:t> all </a:t>
            </a:r>
            <a:r>
              <a:rPr lang="et-EE" i="1" dirty="0" err="1"/>
              <a:t>you</a:t>
            </a:r>
            <a:r>
              <a:rPr lang="et-EE" i="1" dirty="0"/>
              <a:t> need</a:t>
            </a:r>
            <a:r>
              <a:rPr lang="et-EE" dirty="0"/>
              <a:t> on artikkel, kus kirjeldati LLM mudelite aluseks olev </a:t>
            </a:r>
            <a:r>
              <a:rPr lang="et-EE" dirty="0" err="1"/>
              <a:t>Transformer</a:t>
            </a:r>
            <a:r>
              <a:rPr lang="et-EE" dirty="0"/>
              <a:t> arhitektuur.</a:t>
            </a:r>
          </a:p>
          <a:p>
            <a:r>
              <a:rPr lang="et-EE" dirty="0"/>
              <a:t>Minu algne plaan oli 2 seminari vastava lineaaralgebra </a:t>
            </a:r>
            <a:r>
              <a:rPr lang="et-EE" dirty="0" err="1"/>
              <a:t>meeldetuletamisele</a:t>
            </a:r>
            <a:r>
              <a:rPr lang="et-EE" dirty="0"/>
              <a:t> </a:t>
            </a:r>
            <a:r>
              <a:rPr lang="et-EE" dirty="0" err="1"/>
              <a:t>ks</a:t>
            </a:r>
            <a:r>
              <a:rPr lang="et-EE" dirty="0"/>
              <a:t> 2 seminari artikli lugemisele.</a:t>
            </a:r>
          </a:p>
          <a:p>
            <a:r>
              <a:rPr lang="et-EE" dirty="0"/>
              <a:t>Lasin </a:t>
            </a:r>
            <a:r>
              <a:rPr lang="et-EE" i="1" dirty="0"/>
              <a:t>Claude </a:t>
            </a:r>
            <a:r>
              <a:rPr lang="et-EE" i="1" dirty="0" err="1"/>
              <a:t>Opus</a:t>
            </a:r>
            <a:r>
              <a:rPr lang="et-EE" dirty="0" err="1"/>
              <a:t>el</a:t>
            </a:r>
            <a:r>
              <a:rPr lang="et-EE" dirty="0"/>
              <a:t> selliste seminaride kava genereerida ja seal oli lausa 12 seminari – kolm korda rohkem.</a:t>
            </a:r>
          </a:p>
          <a:p>
            <a:r>
              <a:rPr lang="et-EE" dirty="0"/>
              <a:t>Pikem kava läheb rahuliku ja aeglase alusteadmiste õppimisega paremini kokku.</a:t>
            </a:r>
          </a:p>
          <a:p>
            <a:r>
              <a:rPr lang="et-EE" dirty="0"/>
              <a:t>Lisaks on teema läbikordamine pidevalt ja pikema perioodi vältel ka </a:t>
            </a:r>
            <a:r>
              <a:rPr lang="et-EE" dirty="0" err="1"/>
              <a:t>neuroteaduse</a:t>
            </a:r>
            <a:r>
              <a:rPr lang="et-EE" dirty="0"/>
              <a:t> järgi õppimisel vajalik.</a:t>
            </a:r>
          </a:p>
          <a:p>
            <a:r>
              <a:rPr lang="et-EE" dirty="0"/>
              <a:t>Mida selline seminaride sari annaks: arusaamise LLM-</a:t>
            </a:r>
            <a:r>
              <a:rPr lang="et-EE" dirty="0" err="1"/>
              <a:t>idest</a:t>
            </a:r>
            <a:r>
              <a:rPr lang="et-EE" dirty="0"/>
              <a:t>, süvanärvivõrkude toimimisest, Google otsingu </a:t>
            </a:r>
            <a:r>
              <a:rPr lang="et-EE" dirty="0" err="1"/>
              <a:t>PageRank</a:t>
            </a:r>
            <a:r>
              <a:rPr lang="et-EE" dirty="0"/>
              <a:t> algoritmi toimimisest, Võhandu „kihilise sibula koorimine“ süsteemi mõistmisel (SVD, PCA) jne.</a:t>
            </a:r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657211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96B0F8-6388-AAD3-1D24-BA0880D2B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dirty="0"/>
              <a:t>MUUD TEEMAD?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4527F-F592-6083-F315-E4B8AF1390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t-EE" dirty="0"/>
              <a:t>Moodne tarkvaraarendus: printsiibid, protsess, vahendid ja arhitektuur</a:t>
            </a:r>
          </a:p>
          <a:p>
            <a:r>
              <a:rPr lang="et-EE" dirty="0"/>
              <a:t>Artiklite kirjutamine: PICO ja FINER</a:t>
            </a:r>
          </a:p>
          <a:p>
            <a:r>
              <a:rPr lang="et-EE" dirty="0"/>
              <a:t>Moodsad haridusteooriad ja tehnoloogiad</a:t>
            </a:r>
          </a:p>
          <a:p>
            <a:r>
              <a:rPr lang="et-EE" dirty="0"/>
              <a:t>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4250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8" y="0"/>
            <a:ext cx="12207497" cy="4940618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76869" y="4801074"/>
            <a:ext cx="10159444" cy="1635065"/>
          </a:xfrm>
        </p:spPr>
        <p:txBody>
          <a:bodyPr>
            <a:normAutofit/>
          </a:bodyPr>
          <a:lstStyle/>
          <a:p>
            <a:r>
              <a:rPr lang="en-US" altLang="en-US" dirty="0"/>
              <a:t>TALLINN</a:t>
            </a:r>
            <a:r>
              <a:rPr lang="et-EE" altLang="en-US" dirty="0"/>
              <a:t>A</a:t>
            </a:r>
            <a:r>
              <a:rPr lang="en-US" altLang="en-US" dirty="0"/>
              <a:t> </a:t>
            </a:r>
            <a:r>
              <a:rPr lang="et-EE" altLang="en-US" dirty="0"/>
              <a:t>TEHNIKAÜLIKOOL</a:t>
            </a:r>
            <a:endParaRPr lang="en-US" altLang="en-US" dirty="0"/>
          </a:p>
          <a:p>
            <a:r>
              <a:rPr lang="en-US" altLang="en-US" sz="1700" b="0" cap="none" dirty="0" err="1">
                <a:solidFill>
                  <a:srgbClr val="332B60"/>
                </a:solidFill>
              </a:rPr>
              <a:t>Ehitajate</a:t>
            </a:r>
            <a:r>
              <a:rPr lang="en-US" altLang="en-US" sz="1700" b="0" cap="none" dirty="0">
                <a:solidFill>
                  <a:srgbClr val="332B60"/>
                </a:solidFill>
              </a:rPr>
              <a:t> </a:t>
            </a:r>
            <a:r>
              <a:rPr lang="et-EE" altLang="en-US" sz="1700" b="0" cap="none" dirty="0">
                <a:solidFill>
                  <a:srgbClr val="332B60"/>
                </a:solidFill>
              </a:rPr>
              <a:t>tee</a:t>
            </a:r>
            <a:r>
              <a:rPr lang="en-US" altLang="en-US" sz="1700" b="0" cap="none" dirty="0">
                <a:solidFill>
                  <a:srgbClr val="332B60"/>
                </a:solidFill>
              </a:rPr>
              <a:t> 5, 19086 Tallinn</a:t>
            </a:r>
            <a:r>
              <a:rPr lang="et-EE" altLang="en-US" sz="1700" b="0" cap="none" dirty="0">
                <a:solidFill>
                  <a:srgbClr val="332B60"/>
                </a:solidFill>
              </a:rPr>
              <a:t>, </a:t>
            </a:r>
          </a:p>
          <a:p>
            <a:r>
              <a:rPr lang="et-EE" altLang="en-US" sz="1700" b="0" cap="none" dirty="0">
                <a:solidFill>
                  <a:srgbClr val="332B60"/>
                </a:solidFill>
              </a:rPr>
              <a:t>Tel </a:t>
            </a:r>
            <a:r>
              <a:rPr lang="en-US" altLang="en-US" sz="1700" b="0" cap="none" dirty="0">
                <a:solidFill>
                  <a:srgbClr val="332B60"/>
                </a:solidFill>
              </a:rPr>
              <a:t>620 2002 (</a:t>
            </a:r>
            <a:r>
              <a:rPr lang="et-EE" altLang="en-US" sz="1700" b="0" cap="none" dirty="0">
                <a:solidFill>
                  <a:srgbClr val="332B60"/>
                </a:solidFill>
              </a:rPr>
              <a:t>E-R</a:t>
            </a:r>
            <a:r>
              <a:rPr lang="en-US" altLang="en-US" sz="1700" b="0" cap="none" dirty="0">
                <a:solidFill>
                  <a:srgbClr val="332B60"/>
                </a:solidFill>
              </a:rPr>
              <a:t> 8.30–</a:t>
            </a:r>
            <a:r>
              <a:rPr lang="et-EE" altLang="en-US" sz="1700" b="0" cap="none" dirty="0">
                <a:solidFill>
                  <a:srgbClr val="332B60"/>
                </a:solidFill>
              </a:rPr>
              <a:t>17</a:t>
            </a:r>
            <a:r>
              <a:rPr lang="en-US" altLang="en-US" sz="1700" b="0" cap="none" dirty="0">
                <a:solidFill>
                  <a:srgbClr val="332B60"/>
                </a:solidFill>
              </a:rPr>
              <a:t>.00</a:t>
            </a:r>
            <a:r>
              <a:rPr lang="et-EE" altLang="en-US" sz="1700" b="0" cap="none" dirty="0">
                <a:solidFill>
                  <a:srgbClr val="332B60"/>
                </a:solidFill>
              </a:rPr>
              <a:t>)</a:t>
            </a:r>
            <a:endParaRPr lang="en-US" altLang="en-US" sz="1700" cap="none" dirty="0">
              <a:solidFill>
                <a:srgbClr val="332B60"/>
              </a:solidFill>
            </a:endParaRPr>
          </a:p>
          <a:p>
            <a:r>
              <a:rPr lang="en-US" altLang="en-US" sz="1700" cap="none" dirty="0">
                <a:solidFill>
                  <a:srgbClr val="332B60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dirty="0" err="1">
                <a:solidFill>
                  <a:srgbClr val="332B60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 dirty="0">
                <a:solidFill>
                  <a:srgbClr val="332B60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dirty="0" err="1">
                <a:solidFill>
                  <a:srgbClr val="332B60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 dirty="0">
              <a:solidFill>
                <a:srgbClr val="332B60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EWNEW" id="{65034802-83F1-DE41-A876-6851A238EDFE}" vid="{814C7433-F944-B249-91D8-8F253693EC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2915</TotalTime>
  <Words>643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Wingdings</vt:lpstr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Tallinn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PowerPointi esitlus</dc:title>
  <dc:creator>Anu Teder</dc:creator>
  <cp:lastModifiedBy>Ants Torim</cp:lastModifiedBy>
  <cp:revision>165</cp:revision>
  <dcterms:created xsi:type="dcterms:W3CDTF">2018-09-19T06:51:01Z</dcterms:created>
  <dcterms:modified xsi:type="dcterms:W3CDTF">2026-09-08T12:12:40Z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</Properties>
</file>